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na_comp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2148840"/>
            <a:ext cx="5788152" cy="337642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365760"/>
            <a:ext cx="11277295" cy="594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3200" b="1">
                <a:solidFill>
                  <a:srgbClr val="1F2937"/>
                </a:solidFill>
                <a:latin typeface="Arial"/>
              </a:rPr>
              <a:t>Calm on the map, crashes on the street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87552"/>
            <a:ext cx="11277295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600" b="0">
                <a:solidFill>
                  <a:srgbClr val="1F2937"/>
                </a:solidFill>
                <a:latin typeface="Arial"/>
              </a:rPr>
              <a:t>Checking RideScore DC's LTS &amp; BNA against 5 years of DC bike crashes · Challenge 1 (ideas 4.3 + 4.2)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400" b="0">
                <a:solidFill>
                  <a:srgbClr val="4B5563"/>
                </a:solidFill>
                <a:latin typeface="Arial"/>
              </a:rPr>
              <a:t>Yuvraj Gupta · github.com/YuvrajGupta1808/CivicTech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48840"/>
            <a:ext cx="5120640" cy="4297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700" b="1">
                <a:solidFill>
                  <a:srgbClr val="1F2937"/>
                </a:solidFill>
                <a:latin typeface="Arial"/>
              </a:rPr>
              <a:t>Problem: </a:t>
            </a:r>
            <a:r>
              <a:rPr sz="1700" b="0">
                <a:solidFill>
                  <a:srgbClr val="1F2937"/>
                </a:solidFill>
                <a:latin typeface="Arial"/>
              </a:rPr>
              <a:t>RideScore colours DC streets by design (LTS). Nobody had checked those colours against where cyclists actually crash.</a:t>
            </a:r>
          </a:p>
          <a:p>
            <a:pPr>
              <a:spcBef>
                <a:spcPts val="1200"/>
              </a:spcBef>
            </a:pPr>
            <a:r>
              <a:rPr sz="1700" b="1">
                <a:solidFill>
                  <a:srgbClr val="1F2937"/>
                </a:solidFill>
                <a:latin typeface="Arial"/>
              </a:rPr>
              <a:t>What we did: </a:t>
            </a:r>
            <a:r>
              <a:rPr sz="1700" b="0">
                <a:solidFill>
                  <a:srgbClr val="1F2937"/>
                </a:solidFill>
                <a:latin typeface="Arial"/>
              </a:rPr>
              <a:t>Joined 3,089 bike crashes (Crashes in DC, 2021–2026) to 19,554 DDOT blocks. Trained a crash model on OSM + DDOT street design (OSM↔DDOT cross-attention + boosting + safety-performance formula). Tested only on wards it never saw.</a:t>
            </a:r>
          </a:p>
          <a:p>
            <a:pPr>
              <a:spcBef>
                <a:spcPts val="1200"/>
              </a:spcBef>
            </a:pPr>
            <a:r>
              <a:rPr sz="1700" b="1">
                <a:solidFill>
                  <a:srgbClr val="1F2937"/>
                </a:solidFill>
                <a:latin typeface="Arial"/>
              </a:rPr>
              <a:t>Finding: </a:t>
            </a:r>
            <a:r>
              <a:rPr sz="1700" b="0">
                <a:solidFill>
                  <a:srgbClr val="1F2937"/>
                </a:solidFill>
                <a:latin typeface="Arial"/>
              </a:rPr>
              <a:t>the 10% of blocks our model ranks riskiest hold </a:t>
            </a:r>
            <a:r>
              <a:rPr sz="2400" b="1">
                <a:solidFill>
                  <a:srgbClr val="C2410C"/>
                </a:solidFill>
                <a:latin typeface="Arial"/>
              </a:rPr>
              <a:t>44%</a:t>
            </a:r>
            <a:r>
              <a:rPr sz="1700" b="0">
                <a:solidFill>
                  <a:srgbClr val="1F2937"/>
                </a:solidFill>
                <a:latin typeface="Arial"/>
              </a:rPr>
              <a:t> of crashes. LTS: </a:t>
            </a:r>
            <a:r>
              <a:rPr sz="1700" b="1">
                <a:solidFill>
                  <a:srgbClr val="1F2937"/>
                </a:solidFill>
                <a:latin typeface="Arial"/>
              </a:rPr>
              <a:t>13%</a:t>
            </a:r>
            <a:r>
              <a:rPr sz="1700" b="0">
                <a:solidFill>
                  <a:srgbClr val="1F2937"/>
                </a:solidFill>
                <a:latin typeface="Arial"/>
              </a:rPr>
              <a:t>. BNA: </a:t>
            </a:r>
            <a:r>
              <a:rPr sz="1700" b="1">
                <a:solidFill>
                  <a:srgbClr val="1F2937"/>
                </a:solidFill>
                <a:latin typeface="Arial"/>
              </a:rPr>
              <a:t>18%</a:t>
            </a:r>
            <a:r>
              <a:rPr sz="1700" b="0">
                <a:solidFill>
                  <a:srgbClr val="1F2937"/>
                </a:solidFill>
                <a:latin typeface="Arial"/>
              </a:rPr>
              <a:t>. Random: </a:t>
            </a:r>
            <a:r>
              <a:rPr sz="1700" b="1">
                <a:solidFill>
                  <a:srgbClr val="1F2937"/>
                </a:solidFill>
                <a:latin typeface="Arial"/>
              </a:rPr>
              <a:t>10%</a:t>
            </a:r>
            <a:r>
              <a:rPr sz="1700" b="0">
                <a:solidFill>
                  <a:srgbClr val="1F2937"/>
                </a:solidFill>
                <a:latin typeface="Arial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5616702"/>
            <a:ext cx="5788152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400" b="0">
                <a:solidFill>
                  <a:srgbClr val="4B5563"/>
                </a:solidFill>
                <a:latin typeface="Arial"/>
              </a:rPr>
              <a:t>Crashes per km: 'comfortable' vs 'uncomfortable' streets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ts_disagreement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3741774" cy="48920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365760"/>
            <a:ext cx="11277295" cy="594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3200" b="1">
                <a:solidFill>
                  <a:srgbClr val="1F2937"/>
                </a:solidFill>
                <a:latin typeface="Arial"/>
              </a:rPr>
              <a:t>Where LTS says calm, crashes say otherwise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10454" y="1097280"/>
            <a:ext cx="7124041" cy="4937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700" b="1">
                <a:solidFill>
                  <a:srgbClr val="1F2937"/>
                </a:solidFill>
                <a:latin typeface="Arial"/>
              </a:rPr>
              <a:t>Evidence</a:t>
            </a:r>
          </a:p>
          <a:p>
            <a:pPr marL="228600" indent="-228600">
              <a:spcBef>
                <a:spcPts val="300"/>
              </a:spcBef>
              <a:buChar char="•"/>
            </a:pPr>
            <a:r>
              <a:rPr sz="1700" b="0">
                <a:solidFill>
                  <a:srgbClr val="1F2937"/>
                </a:solidFill>
                <a:latin typeface="Arial"/>
              </a:rPr>
              <a:t>Streets LTS calls calm but our model flags: </a:t>
            </a:r>
            <a:r>
              <a:rPr sz="1700" b="1">
                <a:solidFill>
                  <a:srgbClr val="C2410C"/>
                </a:solidFill>
                <a:latin typeface="Arial"/>
              </a:rPr>
              <a:t>4%</a:t>
            </a:r>
            <a:r>
              <a:rPr sz="1700" b="0">
                <a:solidFill>
                  <a:srgbClr val="1F2937"/>
                </a:solidFill>
                <a:latin typeface="Arial"/>
              </a:rPr>
              <a:t> of the network, </a:t>
            </a:r>
            <a:r>
              <a:rPr sz="1700" b="1">
                <a:solidFill>
                  <a:srgbClr val="C2410C"/>
                </a:solidFill>
                <a:latin typeface="Arial"/>
              </a:rPr>
              <a:t>15%</a:t>
            </a:r>
            <a:r>
              <a:rPr sz="1700" b="0">
                <a:solidFill>
                  <a:srgbClr val="1F2937"/>
                </a:solidFill>
                <a:latin typeface="Arial"/>
              </a:rPr>
              <a:t> of all bike crashes (5.3 crashes/km, same as streets both call risky).</a:t>
            </a:r>
          </a:p>
          <a:p>
            <a:pPr marL="228600" indent="-228600">
              <a:spcBef>
                <a:spcPts val="300"/>
              </a:spcBef>
              <a:buChar char="•"/>
            </a:pPr>
            <a:r>
              <a:rPr sz="1700" b="0">
                <a:solidFill>
                  <a:srgbClr val="1F2937"/>
                </a:solidFill>
                <a:latin typeface="Arial"/>
              </a:rPr>
              <a:t>Worst block in DC: 14th St NW at Irving St, LTS 1 with a protected lane, </a:t>
            </a:r>
            <a:r>
              <a:rPr sz="1700" b="1">
                <a:solidFill>
                  <a:srgbClr val="C2410C"/>
                </a:solidFill>
                <a:latin typeface="Arial"/>
              </a:rPr>
              <a:t>18 crashes</a:t>
            </a:r>
            <a:r>
              <a:rPr sz="1700" b="0">
                <a:solidFill>
                  <a:srgbClr val="1F2937"/>
                </a:solidFill>
                <a:latin typeface="Arial"/>
              </a:rPr>
              <a:t> in 5 years.</a:t>
            </a:r>
          </a:p>
          <a:p>
            <a:pPr>
              <a:spcBef>
                <a:spcPts val="1200"/>
              </a:spcBef>
            </a:pPr>
            <a:r>
              <a:rPr sz="1700" b="1">
                <a:solidFill>
                  <a:srgbClr val="1F2937"/>
                </a:solidFill>
                <a:latin typeface="Arial"/>
              </a:rPr>
              <a:t>Honest limits</a:t>
            </a:r>
          </a:p>
          <a:p>
            <a:pPr>
              <a:spcBef>
                <a:spcPts val="300"/>
              </a:spcBef>
            </a:pPr>
            <a:r>
              <a:rPr sz="1700" b="0">
                <a:solidFill>
                  <a:srgbClr val="1F2937"/>
                </a:solidFill>
                <a:latin typeface="Arial"/>
              </a:rPr>
              <a:t>No ridership data: this shows where crashes happen, not danger per ride (busy bike routes get more crashes). Wards 7–8 lose ~20% of crashes in the data match.</a:t>
            </a:r>
          </a:p>
          <a:p>
            <a:pPr>
              <a:spcBef>
                <a:spcPts val="1200"/>
              </a:spcBef>
            </a:pPr>
            <a:r>
              <a:rPr sz="1700" b="1">
                <a:solidFill>
                  <a:srgbClr val="1F2937"/>
                </a:solidFill>
                <a:latin typeface="Arial"/>
              </a:rPr>
              <a:t>Next steps for RideScore</a:t>
            </a:r>
          </a:p>
          <a:p>
            <a:pPr marL="228600" indent="-228600">
              <a:spcBef>
                <a:spcPts val="300"/>
              </a:spcBef>
              <a:buChar char="•"/>
            </a:pPr>
            <a:r>
              <a:rPr sz="1700" b="0">
                <a:solidFill>
                  <a:srgbClr val="1F2937"/>
                </a:solidFill>
                <a:latin typeface="Arial"/>
              </a:rPr>
              <a:t>Add a crash layer next to LTS, not instead of it.</a:t>
            </a:r>
          </a:p>
          <a:p>
            <a:pPr marL="228600" indent="-228600">
              <a:spcBef>
                <a:spcPts val="300"/>
              </a:spcBef>
              <a:buChar char="•"/>
            </a:pPr>
            <a:r>
              <a:rPr sz="1700" b="0">
                <a:solidFill>
                  <a:srgbClr val="1F2937"/>
                </a:solidFill>
                <a:latin typeface="Arial"/>
              </a:rPr>
              <a:t>Add bike counts to separate busy from dangerous.</a:t>
            </a:r>
          </a:p>
          <a:p>
            <a:pPr marL="228600" indent="-228600">
              <a:spcBef>
                <a:spcPts val="300"/>
              </a:spcBef>
              <a:buChar char="•"/>
            </a:pPr>
            <a:r>
              <a:rPr sz="1700" b="0">
                <a:solidFill>
                  <a:srgbClr val="1F2937"/>
                </a:solidFill>
                <a:latin typeface="Arial"/>
              </a:rPr>
              <a:t>Fix Ward 7–8 crash matching.</a:t>
            </a:r>
          </a:p>
          <a:p>
            <a:pPr marL="228600" indent="-228600">
              <a:spcBef>
                <a:spcPts val="300"/>
              </a:spcBef>
              <a:buChar char="•"/>
            </a:pPr>
            <a:r>
              <a:rPr sz="1700" b="0">
                <a:solidFill>
                  <a:srgbClr val="1F2937"/>
                </a:solidFill>
                <a:latin typeface="Arial"/>
              </a:rPr>
              <a:t>Per-segment scores ready: crash_risk_by_segment.parquet.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12648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400" b="0">
                <a:solidFill>
                  <a:srgbClr val="4B5563"/>
                </a:solidFill>
                <a:latin typeface="Arial"/>
              </a:rPr>
              <a:t>Data: © OpenStreetMap contributors (ODbL); DDOT, MPD Crashes in DC (CC BY 4.0)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